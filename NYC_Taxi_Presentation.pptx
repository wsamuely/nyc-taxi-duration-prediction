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D1B2A"/>
                </a:solidFill>
                <a:latin typeface="Arial"/>
              </a:rPr>
              <a:t>RMSE by Model (lower =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(min)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7B73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F4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Linear Reg</c:v>
                  </c:pt>
                  <c:pt idx="2">
                    <c:v>Ridge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13.53</c:v>
                </c:pt>
                <c:pt idx="1">
                  <c:v>7.35</c:v>
                </c:pt>
                <c:pt idx="2">
                  <c:v>7.1</c:v>
                </c:pt>
                <c:pt idx="3">
                  <c:v>4.74</c:v>
                </c:pt>
                <c:pt idx="4">
                  <c:v>4.82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D1B2A"/>
                </a:solidFill>
                <a:latin typeface="Arial"/>
              </a:rPr>
              <a:t>R² by Model (higher =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7B73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F4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Linear Reg</c:v>
                  </c:pt>
                  <c:pt idx="2">
                    <c:v>Ridge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</c:v>
                </c:pt>
                <c:pt idx="1">
                  <c:v>0.72</c:v>
                </c:pt>
                <c:pt idx="2">
                  <c:v>0.74</c:v>
                </c:pt>
                <c:pt idx="3">
                  <c:v>0.88</c:v>
                </c:pt>
                <c:pt idx="4">
                  <c:v>0.88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097280"/>
            <a:ext cx="1097280" cy="109728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0972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🚕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920240" y="10058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NYC Yellow Taxi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920240" y="155448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 Duration Prediction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920240" y="2331720"/>
            <a:ext cx="5486400" cy="36576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5146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Approach to ETA Estimation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NYC TLC Trip Records — January 2025 to February 2026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920240" y="4389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Consultant  |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 |  </a:t>
            </a:r>
            <a:pPr indent="0" marL="0">
              <a:buNone/>
            </a:pPr>
            <a:r>
              <a:rPr lang="en-US" sz="1100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· Scikit-learn · FastAPI · Streamlit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 &amp;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⚠️  The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taxi dispatchers and passengers lack accurate trip duration estimates, causing: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driver scheduling &amp; fleet utilization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Inaccurate fare estimates for riders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Inability to predict demand surges by zone &amp; time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fix — duration = distance ÷ speed — ignores traffic, time of day, and route patterns.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🎯  Objectives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6320" y="1627632"/>
            <a:ext cx="12344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276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B731"/>
                </a:solidFill>
              </a:rPr>
              <a:t>RMSE &lt; 5 min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16733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within 5 minutes of actual duration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377440"/>
            <a:ext cx="12344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377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B731"/>
                </a:solidFill>
              </a:rPr>
              <a:t>MAE &lt; 3 min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error under 3 minutes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46320" y="3127248"/>
            <a:ext cx="12344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312724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B731"/>
                </a:solidFill>
              </a:rPr>
              <a:t>R² &gt; 0.80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31729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80%+ of duration variance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B731"/>
                </a:solidFill>
              </a:rPr>
              <a:t>Beat baseline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392277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 distance ÷ speed on all metrics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Overview — NYC TLC Yellow Taxi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65960" cy="1645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601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Training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(Oct-Dec 2025)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41448" y="914400"/>
            <a:ext cx="1965960" cy="1645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41448" y="9601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11.5M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441448" y="16916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(after cleaning)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08576" y="914400"/>
            <a:ext cx="1965960" cy="1645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08576" y="9601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08576" y="16916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Zones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(NYC TLC defined)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75704" y="914400"/>
            <a:ext cx="1965960" cy="1645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75704" y="9601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775704" y="16916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trip record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788920"/>
            <a:ext cx="8595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88036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Key Fields Available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337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tpep_pickup_datetime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tpep_dropoff_datetime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42316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Target: trip_duration_minutes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749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PULocationID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DOLocationID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2316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265 taxi zone IDs for spatial features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trip_distance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423160" y="4160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Core predictor; baseline model input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54880" y="3337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fare_amount · total_amount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2084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Proxy for metered distance/time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0" y="3749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passenger_count · RatecodeID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payment_type · store_and_fwd_flag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2084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Trip type indicators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 — End-to-End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65176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01  ·  Data Acquisition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8988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monthly .parquet files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from NYC TLC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53512" y="1691640"/>
            <a:ext cx="237744" cy="0"/>
          </a:xfrm>
          <a:prstGeom prst="line">
            <a:avLst/>
          </a:prstGeom>
          <a:noFill/>
          <a:ln w="25400">
            <a:solidFill>
              <a:srgbClr val="F7B73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91440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14400"/>
            <a:ext cx="265176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02  ·  Data Preparation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38988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validate, remove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outliers, optimize dtypes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9592" y="1691640"/>
            <a:ext cx="237744" cy="0"/>
          </a:xfrm>
          <a:prstGeom prst="line">
            <a:avLst/>
          </a:prstGeom>
          <a:noFill/>
          <a:ln w="25400">
            <a:solidFill>
              <a:srgbClr val="F7B73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91440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914400"/>
            <a:ext cx="265176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03  ·  EDA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38988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Temporal, spatial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analysis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834640"/>
            <a:ext cx="265176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346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04  ·  Feature Engineering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31012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features: time, distance,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location, route, interactions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953512" y="3611880"/>
            <a:ext cx="237744" cy="0"/>
          </a:xfrm>
          <a:prstGeom prst="line">
            <a:avLst/>
          </a:prstGeom>
          <a:noFill/>
          <a:ln w="25400">
            <a:solidFill>
              <a:srgbClr val="F7B73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83464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0" y="2834640"/>
            <a:ext cx="265176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0" y="28346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05  ·  Modeling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91840" y="331012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+ baseline;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CV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79592" y="3611880"/>
            <a:ext cx="237744" cy="0"/>
          </a:xfrm>
          <a:prstGeom prst="line">
            <a:avLst/>
          </a:prstGeom>
          <a:noFill/>
          <a:ln w="25400">
            <a:solidFill>
              <a:srgbClr val="F7B73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283464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2834640"/>
            <a:ext cx="265176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28346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B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06  ·  Evaluation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7920" y="331012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Jan–Feb 2026;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+ errors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 — 31 Input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09728" cy="1234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0149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Time Features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362456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day_of_week, month, quarter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is_rush_hour, is_weekend, is_night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Cyclic: hour_sin/cos, dow_sin/cos, month_sin/cos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3317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331720"/>
            <a:ext cx="109728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3865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Distance Features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" y="2734056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trip_distance (raw miles)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log_distance (reduces right skew)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baseline_duration = dist ÷ avg_speed × 60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7033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703320"/>
            <a:ext cx="109728" cy="12344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7581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Location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" y="4105656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PULocationID, DOLocationID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same_zone_flag, cross_borough_flag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pu/do_borough, pu/do_zone_rank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9601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960120"/>
            <a:ext cx="109728" cy="123444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56048" y="10149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Route Features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56048" y="1362456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route_mean_duration (historical avg)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route_median_duration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2025 data only — no leakage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33172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331720"/>
            <a:ext cx="109728" cy="123444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23865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Interaction Features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56048" y="2734056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× is_rush_hour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× is_weekend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× hour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— Training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28016" cy="6583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0642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Baseline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40480" y="1124712"/>
            <a:ext cx="1280160" cy="3200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1247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 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5780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÷ avg_speed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728216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728216"/>
            <a:ext cx="128016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Linear Regression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840480" y="1892808"/>
            <a:ext cx="12801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18928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Linear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57800" y="19110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benchmark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496312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496312"/>
            <a:ext cx="128016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42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Ridge Regression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840480" y="2660904"/>
            <a:ext cx="128016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266090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Regularized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57800" y="26791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on alpha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64408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264408"/>
            <a:ext cx="128016" cy="6583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4107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LightGBM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840480" y="3429000"/>
            <a:ext cx="1280160" cy="32004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3429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Gradient Boost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57800" y="34472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· Best model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4032504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4032504"/>
            <a:ext cx="128016" cy="658368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178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MLP Neural Net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840480" y="4197096"/>
            <a:ext cx="1280160" cy="32004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0" y="41970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Deep Learning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57800" y="42153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256→128→64, early stopping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" y="47548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All models use TimeSeriesSplit (n=5) — NEVER random shuffle. Train: 2025 data. Test: Jan–Feb 2026.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— Test Set Performance (Jan–Feb 2026)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8686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868680"/>
          <a:ext cx="34747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274320" y="4206240"/>
            <a:ext cx="196596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74320" y="422452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&lt; 5 min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274320" y="45445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3.8 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4206240"/>
            <a:ext cx="196596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441448" y="422452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&lt; 3 min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441448" y="45445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 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608576" y="4206240"/>
            <a:ext cx="196596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08576" y="422452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&gt; 0.80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08576" y="45445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0.87 ✅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775704" y="4206240"/>
            <a:ext cx="196596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75704" y="422452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baseline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775704" y="454456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Findings &amp; Error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972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History is #1 Feature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67335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average duration per (PU→DO) route is the strongest predictor, outweighing raw distance.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0972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57784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of Day Matters More Than Expected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7335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rush hour (5–7 PM) adds 40–60% to average trip duration, independently of distance.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30632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🌿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09728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Captures Non-Linearity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63931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creates complex interactions. Tree models outperform linear models by &gt;30% RMSE.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30632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⚠️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57784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Struggles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3931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largest for trips &gt;15 miles and during PM rush — high variance traffic conditions.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5"/>
          </a:solidFill>
          <a:ln w="12700">
            <a:solidFill>
              <a:srgbClr val="1B2E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Deliverables &amp; Tech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12471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32688" y="10332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13716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pipeline: 6 scripts + utils + tests + CI/CD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12471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13248" y="10332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13248" y="13716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methodology, how-to-run instructions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96596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" y="213055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32688" y="203911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Trained Models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23774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as .joblib — Linear, Ridge, LightGBM, MLP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213055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3248" y="203911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Report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13248" y="23774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figures in reports/figures/ with narrative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97180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13639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32688" y="304495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Endpoint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32688" y="33832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 — real-time trip duration 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97180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313639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413248" y="304495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13248" y="33832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prediction UI with model comparison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97764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5760" y="414223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32688" y="405079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32688" y="43891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30+ tests for preprocessing &amp; features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977640"/>
            <a:ext cx="41605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46320" y="414223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413248" y="405079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13248" y="43891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— runs tests on every push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🚕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7B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LightGBM model successfully predicts NYC yellow taxi trip duration with RMSE = 4.74 min and R² = 0.88 — significantly outperforming the naive distance ÷ speed baseline on all metrics.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315468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LightGBM for real-time ETA estimation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monthly to handle seasonal drift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real-time traffic data as v2 feature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special-event prediction gaps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NYC TLC Trip Data · Python · LightGBM · FastAPI · Streamlit · GitHub Actions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Yellow Taxi Trip Duration Prediction</dc:title>
  <dc:subject>PptxGenJS Presentation</dc:subject>
  <dc:creator>Data Science Consultant</dc:creator>
  <cp:lastModifiedBy>Data Science Consultant</cp:lastModifiedBy>
  <cp:revision>1</cp:revision>
  <dcterms:created xsi:type="dcterms:W3CDTF">2026-05-26T06:24:28Z</dcterms:created>
  <dcterms:modified xsi:type="dcterms:W3CDTF">2026-05-26T06:24:28Z</dcterms:modified>
</cp:coreProperties>
</file>